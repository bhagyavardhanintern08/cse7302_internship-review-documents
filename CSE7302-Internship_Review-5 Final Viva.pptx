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9" r:id="rId2"/>
    <p:sldId id="270" r:id="rId3"/>
    <p:sldId id="261" r:id="rId4"/>
    <p:sldId id="281" r:id="rId5"/>
    <p:sldId id="262" r:id="rId6"/>
    <p:sldId id="282" r:id="rId7"/>
    <p:sldId id="263" r:id="rId8"/>
    <p:sldId id="283" r:id="rId9"/>
    <p:sldId id="264" r:id="rId10"/>
    <p:sldId id="265" r:id="rId11"/>
    <p:sldId id="271" r:id="rId12"/>
    <p:sldId id="272" r:id="rId13"/>
    <p:sldId id="273" r:id="rId14"/>
    <p:sldId id="274" r:id="rId15"/>
    <p:sldId id="284" r:id="rId16"/>
    <p:sldId id="275" r:id="rId17"/>
    <p:sldId id="276" r:id="rId18"/>
    <p:sldId id="285" r:id="rId19"/>
    <p:sldId id="277" r:id="rId20"/>
    <p:sldId id="286" r:id="rId21"/>
    <p:sldId id="278" r:id="rId22"/>
    <p:sldId id="279" r:id="rId23"/>
    <p:sldId id="280" r:id="rId24"/>
    <p:sldId id="287" r:id="rId25"/>
    <p:sldId id="267" r:id="rId26"/>
    <p:sldId id="268" r:id="rId27"/>
    <p:sldId id="26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78" d="100"/>
          <a:sy n="78" d="100"/>
        </p:scale>
        <p:origin x="989"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gyavardhan SB" userId="1e7ceafa8b8bc6c1" providerId="LiveId" clId="{A5ABD909-FB5A-497E-82A3-3FEA2A14E4FF}"/>
    <pc:docChg chg="modSld">
      <pc:chgData name="Bhagyavardhan SB" userId="1e7ceafa8b8bc6c1" providerId="LiveId" clId="{A5ABD909-FB5A-497E-82A3-3FEA2A14E4FF}" dt="2026-03-31T15:36:32.053" v="43" actId="20577"/>
      <pc:docMkLst>
        <pc:docMk/>
      </pc:docMkLst>
      <pc:sldChg chg="modSp mod">
        <pc:chgData name="Bhagyavardhan SB" userId="1e7ceafa8b8bc6c1" providerId="LiveId" clId="{A5ABD909-FB5A-497E-82A3-3FEA2A14E4FF}" dt="2026-03-31T15:36:32.053" v="43" actId="20577"/>
        <pc:sldMkLst>
          <pc:docMk/>
          <pc:sldMk cId="3066724582" sldId="259"/>
        </pc:sldMkLst>
        <pc:spChg chg="mod">
          <ac:chgData name="Bhagyavardhan SB" userId="1e7ceafa8b8bc6c1" providerId="LiveId" clId="{A5ABD909-FB5A-497E-82A3-3FEA2A14E4FF}" dt="2026-03-31T15:36:32.053" v="43" actId="20577"/>
          <ac:spMkLst>
            <pc:docMk/>
            <pc:sldMk cId="3066724582" sldId="259"/>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31/03/2026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56346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31-03-2026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31-03-2026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31-03-2026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31-03-2026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31-03-2026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31-03-2026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31-03-2026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31-03-2026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31-03-2026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31-03-2026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31-03-2026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31-03-2026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sdgs.un.org/goals"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github.com/bhagyavardhanIntern08"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lvl="0" algn="ctr">
              <a:spcBef>
                <a:spcPts val="340"/>
              </a:spcBef>
              <a:buClr>
                <a:srgbClr val="17365D"/>
              </a:buClr>
              <a:buSzPts val="1700"/>
            </a:pPr>
            <a:r>
              <a:rPr lang="en-US" sz="20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Mr. Bikram Sarkar &amp; Ms. Chinmayi G V Assistant Professor</a:t>
            </a:r>
            <a:endParaRPr lang="en-US" sz="2000" dirty="0">
              <a:latin typeface="Times New Roman" panose="02020603050405020304" pitchFamily="18" charset="0"/>
              <a:ea typeface="Cambria" panose="02040503050406030204" pitchFamily="18" charset="0"/>
              <a:cs typeface="Times New Roman" panose="02020603050405020304" pitchFamily="18" charset="0"/>
            </a:endParaRPr>
          </a:p>
          <a:p>
            <a:pPr lvl="0" algn="ctr">
              <a:spcBef>
                <a:spcPts val="400"/>
              </a:spcBef>
              <a:buClr>
                <a:srgbClr val="17365D"/>
              </a:buClr>
              <a:buSzPts val="2000"/>
            </a:pPr>
            <a:r>
              <a:rPr lang="en-US" sz="20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School of Computer Science and Engineering Presidency University.</a:t>
            </a:r>
            <a:endParaRPr lang="en-US" sz="20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a:latin typeface="Cambria" panose="02040503050406030204" pitchFamily="18" charset="0"/>
                <a:ea typeface="Cambria" panose="02040503050406030204" pitchFamily="18" charset="0"/>
                <a:cs typeface="Verdana"/>
                <a:sym typeface="Verdana"/>
              </a:rPr>
              <a:t>Internship-CSE7302</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2000" b="1" dirty="0">
                <a:latin typeface="Cambria" panose="02040503050406030204" pitchFamily="18" charset="0"/>
                <a:ea typeface="Cambria" panose="02040503050406030204" pitchFamily="18" charset="0"/>
              </a:rPr>
              <a:t>Dr. Asif Mohammed</a:t>
            </a:r>
            <a:endParaRPr lang="en-US" sz="2000" b="1"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latin typeface="Cambria" panose="02040503050406030204" pitchFamily="18" charset="0"/>
                <a:ea typeface="Cambria" panose="02040503050406030204" pitchFamily="18" charset="0"/>
                <a:cs typeface="Verdana"/>
                <a:sym typeface="Verdana"/>
              </a:rPr>
              <a:t>Dr. Balakrishnan</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Review-5 Final Viva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IN" sz="2400" dirty="0">
                <a:solidFill>
                  <a:schemeClr val="accent1"/>
                </a:solidFill>
                <a:latin typeface="Times New Roman" panose="02020603050405020304" pitchFamily="18" charset="0"/>
                <a:cs typeface="Times New Roman" panose="02020603050405020304" pitchFamily="18" charset="0"/>
              </a:rPr>
              <a:t>IoT-DRIVEN PREDICTIVE MAINTENANCE ANALYTICS FOR SECURITY AUTOMATION SYSTEMS</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4278461360"/>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b="1" dirty="0">
                          <a:latin typeface="Times New Roman" panose="02020603050405020304" pitchFamily="18" charset="0"/>
                          <a:ea typeface="Cambria" panose="02040503050406030204" pitchFamily="18" charset="0"/>
                          <a:cs typeface="Times New Roman" panose="02020603050405020304" pitchFamily="18" charset="0"/>
                        </a:rPr>
                        <a:t>BHAGYAVARDHAN</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b="1" dirty="0">
                          <a:latin typeface="Times New Roman" panose="02020603050405020304" pitchFamily="18" charset="0"/>
                          <a:ea typeface="Cambria" panose="02040503050406030204" pitchFamily="18" charset="0"/>
                          <a:cs typeface="Times New Roman" panose="02020603050405020304" pitchFamily="18" charset="0"/>
                        </a:rPr>
                        <a:t>20231CSE3038</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b="1" dirty="0">
                          <a:latin typeface="Times New Roman" panose="02020603050405020304" pitchFamily="18" charset="0"/>
                          <a:ea typeface="Cambria" panose="02040503050406030204" pitchFamily="18" charset="0"/>
                          <a:cs typeface="Times New Roman" panose="02020603050405020304" pitchFamily="18" charset="0"/>
                        </a:rPr>
                        <a:t>8CSE09</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377968"/>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Design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Implementation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Testing</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Conclusion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References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62940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045031"/>
            <a:ext cx="10515600" cy="4193176"/>
          </a:xfrm>
        </p:spPr>
        <p:txBody>
          <a:bodyPr/>
          <a:lstStyle/>
          <a:p>
            <a:r>
              <a:rPr lang="en-IN" dirty="0">
                <a:latin typeface="Times New Roman" panose="02020603050405020304" pitchFamily="18" charset="0"/>
                <a:cs typeface="Times New Roman" panose="02020603050405020304" pitchFamily="18" charset="0"/>
              </a:rPr>
              <a:t>Ankit Automations is a trusted name in the field of security and automation solutions. </a:t>
            </a:r>
          </a:p>
          <a:p>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With a focus on innovation, quality, and customer satisfaction, we provide a wide range of products designed to make spaces smarter, safer, and more efficient.</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Join the growing number of clients who trust us to automate their world.</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31243-CE80-9A8F-7C57-AABA62C416ED}"/>
              </a:ext>
            </a:extLst>
          </p:cNvPr>
          <p:cNvSpPr>
            <a:spLocks noGrp="1"/>
          </p:cNvSpPr>
          <p:nvPr>
            <p:ph type="title"/>
          </p:nvPr>
        </p:nvSpPr>
        <p:spPr>
          <a:xfrm>
            <a:off x="838200" y="365125"/>
            <a:ext cx="10515600" cy="1127773"/>
          </a:xfrm>
        </p:spPr>
        <p:txBody>
          <a:bodyPr>
            <a:normAutofit/>
          </a:bodyPr>
          <a:lstStyle/>
          <a:p>
            <a:r>
              <a:rPr lang="en-IN" sz="3200" b="1" dirty="0">
                <a:solidFill>
                  <a:schemeClr val="accent1">
                    <a:lumMod val="75000"/>
                  </a:schemeClr>
                </a:solidFill>
              </a:rPr>
              <a:t> </a:t>
            </a:r>
            <a:r>
              <a:rPr lang="en-IN" sz="3200" b="1" dirty="0">
                <a:solidFill>
                  <a:schemeClr val="accent1">
                    <a:lumMod val="75000"/>
                  </a:schemeClr>
                </a:solidFill>
                <a:latin typeface="Times New Roman" panose="02020603050405020304" pitchFamily="18" charset="0"/>
                <a:cs typeface="Times New Roman" panose="02020603050405020304" pitchFamily="18" charset="0"/>
              </a:rPr>
              <a:t>Product Offerings</a:t>
            </a:r>
            <a:br>
              <a:rPr lang="en-IN" sz="3200" dirty="0">
                <a:solidFill>
                  <a:schemeClr val="accent1">
                    <a:lumMod val="75000"/>
                  </a:schemeClr>
                </a:solidFill>
              </a:rPr>
            </a:br>
            <a:endParaRPr lang="en-IN" sz="3200" dirty="0">
              <a:solidFill>
                <a:schemeClr val="accent1">
                  <a:lumMod val="75000"/>
                </a:schemeClr>
              </a:solidFill>
            </a:endParaRPr>
          </a:p>
        </p:txBody>
      </p:sp>
      <p:sp>
        <p:nvSpPr>
          <p:cNvPr id="3" name="Content Placeholder 2">
            <a:extLst>
              <a:ext uri="{FF2B5EF4-FFF2-40B4-BE49-F238E27FC236}">
                <a16:creationId xmlns:a16="http://schemas.microsoft.com/office/drawing/2014/main" id="{26AB0FD2-70AF-523E-2A19-42D3F94AA3D0}"/>
              </a:ext>
            </a:extLst>
          </p:cNvPr>
          <p:cNvSpPr>
            <a:spLocks noGrp="1"/>
          </p:cNvSpPr>
          <p:nvPr>
            <p:ph idx="1"/>
          </p:nvPr>
        </p:nvSpPr>
        <p:spPr>
          <a:xfrm>
            <a:off x="838200" y="1017037"/>
            <a:ext cx="10515600" cy="5159926"/>
          </a:xfrm>
        </p:spPr>
        <p:txBody>
          <a:bodyPr/>
          <a:lstStyle/>
          <a:p>
            <a:r>
              <a:rPr lang="en-IN" dirty="0">
                <a:latin typeface="Times New Roman" panose="02020603050405020304" pitchFamily="18" charset="0"/>
                <a:cs typeface="Times New Roman" panose="02020603050405020304" pitchFamily="18" charset="0"/>
              </a:rPr>
              <a:t>Our offerings include boom barriers, sliding gates, automatic doors, garage door, gate motors, flap barriers, swing barriers, turnstiles, CCTV cameras, walkie-talkies, metal detectors, and handheld detectors &amp; etc.</a:t>
            </a:r>
          </a:p>
          <a:p>
            <a:pPr marL="0" indent="0">
              <a:buNone/>
            </a:pP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Whether it’s residential, commercial, or industrial, our automation solutions are tailored to meet the unique needs of each client.</a:t>
            </a:r>
          </a:p>
          <a:p>
            <a:pPr marL="0" indent="0">
              <a:buNone/>
            </a:pPr>
            <a:endParaRPr lang="en-IN" dirty="0"/>
          </a:p>
          <a:p>
            <a:endParaRPr lang="en-IN" dirty="0"/>
          </a:p>
        </p:txBody>
      </p:sp>
      <p:sp>
        <p:nvSpPr>
          <p:cNvPr id="5" name="Slide Number Placeholder 4">
            <a:extLst>
              <a:ext uri="{FF2B5EF4-FFF2-40B4-BE49-F238E27FC236}">
                <a16:creationId xmlns:a16="http://schemas.microsoft.com/office/drawing/2014/main" id="{B1D96B01-8A79-1ED1-AD78-D1E393386D9D}"/>
              </a:ext>
            </a:extLst>
          </p:cNvPr>
          <p:cNvSpPr>
            <a:spLocks noGrp="1"/>
          </p:cNvSpPr>
          <p:nvPr>
            <p:ph type="sldNum" sz="quarter" idx="12"/>
          </p:nvPr>
        </p:nvSpPr>
        <p:spPr/>
        <p:txBody>
          <a:bodyPr/>
          <a:lstStyle/>
          <a:p>
            <a:fld id="{F32F6845-8F47-4AB8-B9CE-96D88E741707}" type="slidenum">
              <a:rPr lang="en-IN" smtClean="0"/>
              <a:pPr/>
              <a:t>4</a:t>
            </a:fld>
            <a:endParaRPr lang="en-IN" dirty="0"/>
          </a:p>
        </p:txBody>
      </p:sp>
    </p:spTree>
    <p:extLst>
      <p:ext uri="{BB962C8B-B14F-4D97-AF65-F5344CB8AC3E}">
        <p14:creationId xmlns:p14="http://schemas.microsoft.com/office/powerpoint/2010/main" val="2130886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4058194"/>
          </a:xfrm>
        </p:spPr>
        <p:txBody>
          <a:bodyPr/>
          <a:lstStyle/>
          <a:p>
            <a:r>
              <a:rPr lang="en-US" dirty="0">
                <a:latin typeface="Times New Roman" panose="02020603050405020304" pitchFamily="18" charset="0"/>
                <a:cs typeface="Times New Roman" panose="02020603050405020304" pitchFamily="18" charset="0"/>
              </a:rPr>
              <a:t>As a </a:t>
            </a:r>
            <a:r>
              <a:rPr lang="en-US" b="1" dirty="0">
                <a:latin typeface="Times New Roman" panose="02020603050405020304" pitchFamily="18" charset="0"/>
                <a:cs typeface="Times New Roman" panose="02020603050405020304" pitchFamily="18" charset="0"/>
              </a:rPr>
              <a:t>Data Analyst</a:t>
            </a:r>
            <a:r>
              <a:rPr lang="en-US" dirty="0">
                <a:latin typeface="Times New Roman" panose="02020603050405020304" pitchFamily="18" charset="0"/>
                <a:cs typeface="Times New Roman" panose="02020603050405020304" pitchFamily="18" charset="0"/>
              </a:rPr>
              <a:t> at Ankit Automations, you’ll collect and process data from security systems like CCTV cameras and access control devices to identify patterns in usage and potential vulnerabilities.</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IoT sensors are used to continuously monitor operational parameters like temperature, voltage, uptime, and error frequency.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Security automation systems such as CCTV cameras, boom barriers, turnstiles, and access control systems form the core application area.</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658682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6D934-7049-C5E1-CF3A-B56725FC2F7B}"/>
              </a:ext>
            </a:extLst>
          </p:cNvPr>
          <p:cNvSpPr>
            <a:spLocks noGrp="1"/>
          </p:cNvSpPr>
          <p:nvPr>
            <p:ph type="title"/>
          </p:nvPr>
        </p:nvSpPr>
        <p:spPr>
          <a:xfrm>
            <a:off x="838200" y="365126"/>
            <a:ext cx="10515600" cy="53994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Continue…</a:t>
            </a:r>
            <a:endParaRPr lang="en-IN" sz="3200" dirty="0">
              <a:solidFill>
                <a:schemeClr val="accent1">
                  <a:lumMod val="75000"/>
                </a:schemeClr>
              </a:solidFill>
            </a:endParaRPr>
          </a:p>
        </p:txBody>
      </p:sp>
      <p:sp>
        <p:nvSpPr>
          <p:cNvPr id="3" name="Content Placeholder 2">
            <a:extLst>
              <a:ext uri="{FF2B5EF4-FFF2-40B4-BE49-F238E27FC236}">
                <a16:creationId xmlns:a16="http://schemas.microsoft.com/office/drawing/2014/main" id="{ED0613A2-8B29-E7FC-C799-7E3D6F8DF6DB}"/>
              </a:ext>
            </a:extLst>
          </p:cNvPr>
          <p:cNvSpPr>
            <a:spLocks noGrp="1"/>
          </p:cNvSpPr>
          <p:nvPr>
            <p:ph idx="1"/>
          </p:nvPr>
        </p:nvSpPr>
        <p:spPr>
          <a:xfrm>
            <a:off x="838200" y="979714"/>
            <a:ext cx="10515600" cy="5197249"/>
          </a:xfrm>
        </p:spPr>
        <p:txBody>
          <a:bodyPr/>
          <a:lstStyle/>
          <a:p>
            <a:r>
              <a:rPr lang="en-US" dirty="0">
                <a:latin typeface="Times New Roman" panose="02020603050405020304" pitchFamily="18" charset="0"/>
                <a:cs typeface="Times New Roman" panose="02020603050405020304" pitchFamily="18" charset="0"/>
              </a:rPr>
              <a:t>Anomaly detection algorithms identify unusual events in turnstile and flap barrier data.</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Integration of CCTV metadata with access control logs enables advanced analytics.</a:t>
            </a:r>
          </a:p>
          <a:p>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Time-series analysis handles usage logs and vibration patterns from automation devices.</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Real-time alert systems reduce downtime and enhance overall security posture.</a:t>
            </a: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p>
        </p:txBody>
      </p:sp>
      <p:sp>
        <p:nvSpPr>
          <p:cNvPr id="5" name="Slide Number Placeholder 4">
            <a:extLst>
              <a:ext uri="{FF2B5EF4-FFF2-40B4-BE49-F238E27FC236}">
                <a16:creationId xmlns:a16="http://schemas.microsoft.com/office/drawing/2014/main" id="{E05B1FAC-0649-0CE3-7E9F-5F4E044FAB74}"/>
              </a:ext>
            </a:extLst>
          </p:cNvPr>
          <p:cNvSpPr>
            <a:spLocks noGrp="1"/>
          </p:cNvSpPr>
          <p:nvPr>
            <p:ph type="sldNum" sz="quarter" idx="12"/>
          </p:nvPr>
        </p:nvSpPr>
        <p:spPr/>
        <p:txBody>
          <a:bodyPr/>
          <a:lstStyle/>
          <a:p>
            <a:fld id="{F32F6845-8F47-4AB8-B9CE-96D88E741707}" type="slidenum">
              <a:rPr lang="en-IN" smtClean="0"/>
              <a:pPr/>
              <a:t>6</a:t>
            </a:fld>
            <a:endParaRPr lang="en-IN" dirty="0"/>
          </a:p>
        </p:txBody>
      </p:sp>
    </p:spTree>
    <p:extLst>
      <p:ext uri="{BB962C8B-B14F-4D97-AF65-F5344CB8AC3E}">
        <p14:creationId xmlns:p14="http://schemas.microsoft.com/office/powerpoint/2010/main" val="4015214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pic>
        <p:nvPicPr>
          <p:cNvPr id="5" name="Content Placeholder 7">
            <a:extLst>
              <a:ext uri="{FF2B5EF4-FFF2-40B4-BE49-F238E27FC236}">
                <a16:creationId xmlns:a16="http://schemas.microsoft.com/office/drawing/2014/main" id="{28C3F83A-6A1B-32B4-3F43-88DBED6293B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34186" y="1400175"/>
            <a:ext cx="2723628" cy="4057650"/>
          </a:xfrm>
          <a:prstGeom prst="rect">
            <a:avLst/>
          </a:prstGeom>
          <a:noFill/>
          <a:ln>
            <a:noFill/>
          </a:ln>
        </p:spPr>
      </p:pic>
      <p:graphicFrame>
        <p:nvGraphicFramePr>
          <p:cNvPr id="3" name="Table 2">
            <a:extLst>
              <a:ext uri="{FF2B5EF4-FFF2-40B4-BE49-F238E27FC236}">
                <a16:creationId xmlns:a16="http://schemas.microsoft.com/office/drawing/2014/main" id="{288BE0C1-4DA8-A367-9EC4-1D0B3D3DF582}"/>
              </a:ext>
            </a:extLst>
          </p:cNvPr>
          <p:cNvGraphicFramePr>
            <a:graphicFrameLocks noGrp="1"/>
          </p:cNvGraphicFramePr>
          <p:nvPr>
            <p:extLst>
              <p:ext uri="{D42A27DB-BD31-4B8C-83A1-F6EECF244321}">
                <p14:modId xmlns:p14="http://schemas.microsoft.com/office/powerpoint/2010/main" val="250231608"/>
              </p:ext>
            </p:extLst>
          </p:nvPr>
        </p:nvGraphicFramePr>
        <p:xfrm>
          <a:off x="3424335" y="1101012"/>
          <a:ext cx="5691673" cy="4590661"/>
        </p:xfrm>
        <a:graphic>
          <a:graphicData uri="http://schemas.openxmlformats.org/drawingml/2006/table">
            <a:tbl>
              <a:tblPr/>
              <a:tblGrid>
                <a:gridCol w="5691673">
                  <a:extLst>
                    <a:ext uri="{9D8B030D-6E8A-4147-A177-3AD203B41FA5}">
                      <a16:colId xmlns:a16="http://schemas.microsoft.com/office/drawing/2014/main" val="2923094014"/>
                    </a:ext>
                  </a:extLst>
                </a:gridCol>
              </a:tblGrid>
              <a:tr h="4590661">
                <a:tc>
                  <a:txBody>
                    <a:bodyPr/>
                    <a:lstStyle/>
                    <a:p>
                      <a:r>
                        <a:rPr lang="en-IN" dirty="0"/>
                        <a:t>                      </a:t>
                      </a:r>
                    </a:p>
                    <a:p>
                      <a:endParaRPr lang="en-IN" dirty="0"/>
                    </a:p>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848623221"/>
                  </a:ext>
                </a:extLst>
              </a:tr>
            </a:tbl>
          </a:graphicData>
        </a:graphic>
      </p:graphicFrame>
    </p:spTree>
    <p:extLst>
      <p:ext uri="{BB962C8B-B14F-4D97-AF65-F5344CB8AC3E}">
        <p14:creationId xmlns:p14="http://schemas.microsoft.com/office/powerpoint/2010/main" val="2510696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7EA51-DDB2-DCA3-1250-DDF62419E9FC}"/>
              </a:ext>
            </a:extLst>
          </p:cNvPr>
          <p:cNvSpPr>
            <a:spLocks noGrp="1"/>
          </p:cNvSpPr>
          <p:nvPr>
            <p:ph type="title"/>
          </p:nvPr>
        </p:nvSpPr>
        <p:spPr>
          <a:xfrm>
            <a:off x="838200" y="365126"/>
            <a:ext cx="10515600" cy="530614"/>
          </a:xfrm>
        </p:spPr>
        <p:txBody>
          <a:bodyPr>
            <a:noAutofit/>
          </a:bodyPr>
          <a:lstStyle/>
          <a:p>
            <a:r>
              <a:rPr lang="en-IN" sz="3600" b="1" dirty="0">
                <a:solidFill>
                  <a:schemeClr val="accent1">
                    <a:lumMod val="75000"/>
                  </a:schemeClr>
                </a:solidFill>
                <a:latin typeface="Times New Roman" panose="02020603050405020304" pitchFamily="18" charset="0"/>
                <a:cs typeface="Times New Roman" panose="02020603050405020304" pitchFamily="18" charset="0"/>
              </a:rPr>
              <a:t>Continue…</a:t>
            </a:r>
            <a:endParaRPr lang="en-IN" sz="3600" dirty="0">
              <a:solidFill>
                <a:schemeClr val="accent1">
                  <a:lumMod val="75000"/>
                </a:schemeClr>
              </a:solidFill>
            </a:endParaRPr>
          </a:p>
        </p:txBody>
      </p:sp>
      <p:sp>
        <p:nvSpPr>
          <p:cNvPr id="3" name="Content Placeholder 2">
            <a:extLst>
              <a:ext uri="{FF2B5EF4-FFF2-40B4-BE49-F238E27FC236}">
                <a16:creationId xmlns:a16="http://schemas.microsoft.com/office/drawing/2014/main" id="{0D9D29E3-2F6E-9BA4-2344-BFEF11CBFF5D}"/>
              </a:ext>
            </a:extLst>
          </p:cNvPr>
          <p:cNvSpPr>
            <a:spLocks noGrp="1"/>
          </p:cNvSpPr>
          <p:nvPr>
            <p:ph idx="1"/>
          </p:nvPr>
        </p:nvSpPr>
        <p:spPr>
          <a:xfrm>
            <a:off x="838200" y="989045"/>
            <a:ext cx="10515600" cy="4879910"/>
          </a:xfrm>
        </p:spPr>
        <p:txBody>
          <a:bodyPr>
            <a:normAutofit lnSpcReduction="10000"/>
          </a:bodyPr>
          <a:lstStyle/>
          <a:p>
            <a:r>
              <a:rPr lang="en-US" dirty="0">
                <a:latin typeface="Times New Roman" panose="02020603050405020304" pitchFamily="18" charset="0"/>
                <a:cs typeface="Times New Roman" panose="02020603050405020304" pitchFamily="18" charset="0"/>
              </a:rPr>
              <a:t>The internship was conducted at </a:t>
            </a:r>
            <a:r>
              <a:rPr lang="en-US" b="1" dirty="0">
                <a:latin typeface="Times New Roman" panose="02020603050405020304" pitchFamily="18" charset="0"/>
                <a:cs typeface="Times New Roman" panose="02020603050405020304" pitchFamily="18" charset="0"/>
              </a:rPr>
              <a:t>Ankit Automations</a:t>
            </a:r>
            <a:r>
              <a:rPr lang="en-US" dirty="0">
                <a:latin typeface="Times New Roman" panose="02020603050405020304" pitchFamily="18" charset="0"/>
                <a:cs typeface="Times New Roman" panose="02020603050405020304" pitchFamily="18" charset="0"/>
              </a:rPr>
              <a:t>, a company specializing in security and automation solutions.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team includes automation engineers responsible for hardware deployment.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reporting structure helps interns understand real-world organizational workflows.</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team follows professional communication and reporting standards.</a:t>
            </a:r>
            <a:endParaRPr lang="en-IN" dirty="0">
              <a:latin typeface="Times New Roman" panose="02020603050405020304" pitchFamily="18" charset="0"/>
              <a:cs typeface="Times New Roman" panose="02020603050405020304" pitchFamily="18" charset="0"/>
            </a:endParaRPr>
          </a:p>
          <a:p>
            <a:endParaRPr lang="en-IN" dirty="0"/>
          </a:p>
        </p:txBody>
      </p:sp>
      <p:sp>
        <p:nvSpPr>
          <p:cNvPr id="5" name="Slide Number Placeholder 4">
            <a:extLst>
              <a:ext uri="{FF2B5EF4-FFF2-40B4-BE49-F238E27FC236}">
                <a16:creationId xmlns:a16="http://schemas.microsoft.com/office/drawing/2014/main" id="{A18251B6-A4FE-843C-96AD-E3FD554BFE5D}"/>
              </a:ext>
            </a:extLst>
          </p:cNvPr>
          <p:cNvSpPr>
            <a:spLocks noGrp="1"/>
          </p:cNvSpPr>
          <p:nvPr>
            <p:ph type="sldNum" sz="quarter" idx="12"/>
          </p:nvPr>
        </p:nvSpPr>
        <p:spPr/>
        <p:txBody>
          <a:bodyPr/>
          <a:lstStyle/>
          <a:p>
            <a:fld id="{F32F6845-8F47-4AB8-B9CE-96D88E741707}" type="slidenum">
              <a:rPr lang="en-IN" smtClean="0"/>
              <a:pPr/>
              <a:t>8</a:t>
            </a:fld>
            <a:endParaRPr lang="en-IN" dirty="0"/>
          </a:p>
        </p:txBody>
      </p:sp>
    </p:spTree>
    <p:extLst>
      <p:ext uri="{BB962C8B-B14F-4D97-AF65-F5344CB8AC3E}">
        <p14:creationId xmlns:p14="http://schemas.microsoft.com/office/powerpoint/2010/main" val="1494181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184366"/>
            <a:ext cx="10515600" cy="4693919"/>
          </a:xfrm>
        </p:spPr>
        <p:txBody>
          <a:bodyPr>
            <a:noAutofit/>
          </a:bodyPr>
          <a:lstStyle/>
          <a:p>
            <a:r>
              <a:rPr lang="en-US" dirty="0">
                <a:latin typeface="Times New Roman" panose="02020603050405020304" pitchFamily="18" charset="0"/>
                <a:cs typeface="Times New Roman" panose="02020603050405020304" pitchFamily="18" charset="0"/>
              </a:rPr>
              <a:t>Handling ambiguous stakeholder requirements without clear initial KPIs.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Limited access to real IoT sensor data forced creation of realistic synthetic datasets.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Managing hybrid work expectations and daily stand-up responsiveness.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Overcoming initial overfitting issues in early Random Forest models.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1206156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1184366"/>
            <a:ext cx="10515600" cy="4637935"/>
          </a:xfrm>
        </p:spPr>
        <p:txBody>
          <a:bodyPr>
            <a:normAutofit lnSpcReduction="10000"/>
          </a:bodyPr>
          <a:lstStyle/>
          <a:p>
            <a:r>
              <a:rPr lang="en-US" dirty="0">
                <a:latin typeface="Times New Roman" panose="02020603050405020304" pitchFamily="18" charset="0"/>
                <a:cs typeface="Times New Roman" panose="02020603050405020304" pitchFamily="18" charset="0"/>
              </a:rPr>
              <a:t>Developing an accurate predictive model to forecast maintenance needs for automation devices.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Support data-driven decision-making for inventory and demand forecasting.</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Enhance innovation by identifying performance trends across product lines. </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Build reusable pipeline for future expansion to CCTV and handheld detectors.</a:t>
            </a: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Tree>
    <p:extLst>
      <p:ext uri="{BB962C8B-B14F-4D97-AF65-F5344CB8AC3E}">
        <p14:creationId xmlns:p14="http://schemas.microsoft.com/office/powerpoint/2010/main" val="2516334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p>
        </p:txBody>
      </p:sp>
      <p:sp>
        <p:nvSpPr>
          <p:cNvPr id="3" name="Content Placeholder 2"/>
          <p:cNvSpPr>
            <a:spLocks noGrp="1"/>
          </p:cNvSpPr>
          <p:nvPr>
            <p:ph idx="1"/>
          </p:nvPr>
        </p:nvSpPr>
        <p:spPr>
          <a:xfrm>
            <a:off x="838200" y="1184367"/>
            <a:ext cx="10515600" cy="4058194"/>
          </a:xfrm>
        </p:spPr>
        <p:txBody>
          <a:bodyPr>
            <a:noAutofit/>
          </a:bodyPr>
          <a:lstStyle/>
          <a:p>
            <a:r>
              <a:rPr lang="en-US" dirty="0">
                <a:latin typeface="Times New Roman" panose="02020603050405020304" pitchFamily="18" charset="0"/>
                <a:cs typeface="Times New Roman" panose="02020603050405020304" pitchFamily="18" charset="0"/>
              </a:rPr>
              <a:t>Research studies highlight predictive maintenance as superior to reactive methods.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Studies on security IoT data stress privacy-preserving federated learning techniques.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Existing systems lack integration between IoT and analytics.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Predictive maintenance literature emphasizes edge computing for real-time alerts.</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Tree>
    <p:extLst>
      <p:ext uri="{BB962C8B-B14F-4D97-AF65-F5344CB8AC3E}">
        <p14:creationId xmlns:p14="http://schemas.microsoft.com/office/powerpoint/2010/main" val="972927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95928"/>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a:t>
            </a:r>
          </a:p>
        </p:txBody>
      </p:sp>
      <p:sp>
        <p:nvSpPr>
          <p:cNvPr id="3" name="Content Placeholder 2"/>
          <p:cNvSpPr>
            <a:spLocks noGrp="1"/>
          </p:cNvSpPr>
          <p:nvPr>
            <p:ph idx="1"/>
          </p:nvPr>
        </p:nvSpPr>
        <p:spPr>
          <a:xfrm>
            <a:off x="838200" y="961054"/>
            <a:ext cx="10515600" cy="4281507"/>
          </a:xfrm>
        </p:spPr>
        <p:txBody>
          <a:bodyPr>
            <a:noAutofit/>
          </a:bodyPr>
          <a:lstStyle/>
          <a:p>
            <a:r>
              <a:rPr lang="en-US" dirty="0">
                <a:latin typeface="Times New Roman" panose="02020603050405020304" pitchFamily="18" charset="0"/>
                <a:cs typeface="Times New Roman" panose="02020603050405020304" pitchFamily="18" charset="0"/>
              </a:rPr>
              <a:t>Real-time IoT data ingestion from gate motors, boom barriers, and turnstiles.</a:t>
            </a:r>
          </a:p>
          <a:p>
            <a:pPr marL="0" indent="0">
              <a:buNone/>
            </a:pP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proposed system integrates IoT sensors with security devices.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Data is transmitted securely to cloud servers.</a:t>
            </a:r>
          </a:p>
          <a:p>
            <a:pPr marL="0" indent="0">
              <a:buNone/>
            </a:pP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Maintenance schedules are optimized using analytics.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solution improves system reliability and uptime.</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Tree>
    <p:extLst>
      <p:ext uri="{BB962C8B-B14F-4D97-AF65-F5344CB8AC3E}">
        <p14:creationId xmlns:p14="http://schemas.microsoft.com/office/powerpoint/2010/main" val="3552477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838200" y="1184367"/>
            <a:ext cx="10515600" cy="4058194"/>
          </a:xfrm>
        </p:spPr>
        <p:txBody>
          <a:bodyPr>
            <a:noAutofit/>
          </a:bodyPr>
          <a:lstStyle/>
          <a:p>
            <a:r>
              <a:rPr lang="en-US" dirty="0">
                <a:latin typeface="Times New Roman" panose="02020603050405020304" pitchFamily="18" charset="0"/>
                <a:cs typeface="Times New Roman" panose="02020603050405020304" pitchFamily="18" charset="0"/>
              </a:rPr>
              <a:t>Existing maintenance methods are reactive.</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Manual monitoring is inefficient and error-prone.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Maintenance costs increase due to emergency repairs.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Security automation systems face unexpected operational failures.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Maintenance schedules are not data-driven.</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Tree>
    <p:extLst>
      <p:ext uri="{BB962C8B-B14F-4D97-AF65-F5344CB8AC3E}">
        <p14:creationId xmlns:p14="http://schemas.microsoft.com/office/powerpoint/2010/main" val="4505980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a:xfrm>
            <a:off x="838200" y="1184367"/>
            <a:ext cx="10515600" cy="4432662"/>
          </a:xfrm>
        </p:spPr>
        <p:txBody>
          <a:bodyPr>
            <a:normAutofit lnSpcReduction="10000"/>
          </a:bodyPr>
          <a:lstStyle/>
          <a:p>
            <a:r>
              <a:rPr lang="en-US" b="1" dirty="0">
                <a:latin typeface="Times New Roman" panose="02020603050405020304" pitchFamily="18" charset="0"/>
                <a:cs typeface="Times New Roman" panose="02020603050405020304" pitchFamily="18" charset="0"/>
              </a:rPr>
              <a:t>Laptops/Workstations:</a:t>
            </a:r>
            <a:r>
              <a:rPr lang="en-US" dirty="0">
                <a:latin typeface="Times New Roman" panose="02020603050405020304" pitchFamily="18" charset="0"/>
                <a:cs typeface="Times New Roman" panose="02020603050405020304" pitchFamily="18" charset="0"/>
              </a:rPr>
              <a:t> Development team using Windows 10/11 laptops with 16GB RAM, Intel i7 processors, and dual monitors for productivity.</a:t>
            </a:r>
          </a:p>
          <a:p>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Development Tools:</a:t>
            </a:r>
            <a:r>
              <a:rPr lang="en-IN" dirty="0">
                <a:latin typeface="Times New Roman" panose="02020603050405020304" pitchFamily="18" charset="0"/>
                <a:cs typeface="Times New Roman" panose="02020603050405020304" pitchFamily="18" charset="0"/>
              </a:rPr>
              <a:t> Visual Studio Code for coding, GitHub for version control and collaboration, Docker for containerization ensuring consistent environments, and Postman for API testing.</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ETL Tools:</a:t>
            </a:r>
            <a:r>
              <a:rPr lang="en-US" dirty="0">
                <a:latin typeface="Times New Roman" panose="02020603050405020304" pitchFamily="18" charset="0"/>
                <a:cs typeface="Times New Roman" panose="02020603050405020304" pitchFamily="18" charset="0"/>
              </a:rPr>
              <a:t> Apache Airflow for workflow orchestration and scheduling, custom Python scripts using SQL Alchemy for database connectivity, and Pandas for data transformation logic.</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14</a:t>
            </a:fld>
            <a:endParaRPr lang="en-US" altLang="en-US"/>
          </a:p>
        </p:txBody>
      </p:sp>
    </p:spTree>
    <p:extLst>
      <p:ext uri="{BB962C8B-B14F-4D97-AF65-F5344CB8AC3E}">
        <p14:creationId xmlns:p14="http://schemas.microsoft.com/office/powerpoint/2010/main" val="3128696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3DB25-3A67-4BE0-025D-4FB140131FCC}"/>
              </a:ext>
            </a:extLst>
          </p:cNvPr>
          <p:cNvSpPr>
            <a:spLocks noGrp="1"/>
          </p:cNvSpPr>
          <p:nvPr>
            <p:ph type="title"/>
          </p:nvPr>
        </p:nvSpPr>
        <p:spPr>
          <a:xfrm>
            <a:off x="838200" y="365125"/>
            <a:ext cx="10515600" cy="67057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Continue….</a:t>
            </a:r>
            <a:endParaRPr lang="en-IN" sz="3200" dirty="0">
              <a:solidFill>
                <a:schemeClr val="accent1">
                  <a:lumMod val="75000"/>
                </a:schemeClr>
              </a:solidFill>
            </a:endParaRPr>
          </a:p>
        </p:txBody>
      </p:sp>
      <p:sp>
        <p:nvSpPr>
          <p:cNvPr id="3" name="Content Placeholder 2">
            <a:extLst>
              <a:ext uri="{FF2B5EF4-FFF2-40B4-BE49-F238E27FC236}">
                <a16:creationId xmlns:a16="http://schemas.microsoft.com/office/drawing/2014/main" id="{378731C6-D74C-DA70-740E-1C2BDCF73D36}"/>
              </a:ext>
            </a:extLst>
          </p:cNvPr>
          <p:cNvSpPr>
            <a:spLocks noGrp="1"/>
          </p:cNvSpPr>
          <p:nvPr>
            <p:ph idx="1"/>
          </p:nvPr>
        </p:nvSpPr>
        <p:spPr>
          <a:xfrm>
            <a:off x="838200" y="1035698"/>
            <a:ext cx="10515600" cy="5141265"/>
          </a:xfrm>
        </p:spPr>
        <p:txBody>
          <a:bodyPr/>
          <a:lstStyle/>
          <a:p>
            <a:r>
              <a:rPr lang="en-US" b="1" dirty="0">
                <a:latin typeface="Times New Roman" panose="02020603050405020304" pitchFamily="18" charset="0"/>
                <a:cs typeface="Times New Roman" panose="02020603050405020304" pitchFamily="18" charset="0"/>
              </a:rPr>
              <a:t>Communication Tools:</a:t>
            </a:r>
            <a:r>
              <a:rPr lang="en-US" dirty="0">
                <a:latin typeface="Times New Roman" panose="02020603050405020304" pitchFamily="18" charset="0"/>
                <a:cs typeface="Times New Roman" panose="02020603050405020304" pitchFamily="18" charset="0"/>
              </a:rPr>
              <a:t> Slack for team collaboration, Microsoft Teams for meetings, and JIRA for project task tracking and sprint planning.</a:t>
            </a:r>
          </a:p>
          <a:p>
            <a:pPr marL="0" indent="0">
              <a:buNone/>
            </a:pPr>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Monitoring Tools:</a:t>
            </a:r>
            <a:r>
              <a:rPr lang="en-US" dirty="0">
                <a:latin typeface="Times New Roman" panose="02020603050405020304" pitchFamily="18" charset="0"/>
                <a:cs typeface="Times New Roman" panose="02020603050405020304" pitchFamily="18" charset="0"/>
              </a:rPr>
              <a:t> AWS CloudWatch for infrastructure monitoring, Grafana for custom metrics dashboards, and PagerDuty for incident alerting and escalation management.</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Backup Systems:</a:t>
            </a:r>
            <a:r>
              <a:rPr lang="en-US" dirty="0">
                <a:latin typeface="Times New Roman" panose="02020603050405020304" pitchFamily="18" charset="0"/>
                <a:cs typeface="Times New Roman" panose="02020603050405020304" pitchFamily="18" charset="0"/>
              </a:rPr>
              <a:t> AWS S3 with versioning enabled, automated backup scripts, and tested disaster recovery procedures with quarterly restoration drills.</a:t>
            </a:r>
          </a:p>
          <a:p>
            <a:pPr marL="0" indent="0">
              <a:buNone/>
            </a:pPr>
            <a:endParaRPr lang="en-IN" dirty="0"/>
          </a:p>
        </p:txBody>
      </p:sp>
      <p:sp>
        <p:nvSpPr>
          <p:cNvPr id="5" name="Slide Number Placeholder 4">
            <a:extLst>
              <a:ext uri="{FF2B5EF4-FFF2-40B4-BE49-F238E27FC236}">
                <a16:creationId xmlns:a16="http://schemas.microsoft.com/office/drawing/2014/main" id="{87E53684-518F-1696-6AA1-6144A82D4CA4}"/>
              </a:ext>
            </a:extLst>
          </p:cNvPr>
          <p:cNvSpPr>
            <a:spLocks noGrp="1"/>
          </p:cNvSpPr>
          <p:nvPr>
            <p:ph type="sldNum" sz="quarter" idx="12"/>
          </p:nvPr>
        </p:nvSpPr>
        <p:spPr/>
        <p:txBody>
          <a:bodyPr/>
          <a:lstStyle/>
          <a:p>
            <a:fld id="{F32F6845-8F47-4AB8-B9CE-96D88E741707}" type="slidenum">
              <a:rPr lang="en-IN" smtClean="0"/>
              <a:pPr/>
              <a:t>15</a:t>
            </a:fld>
            <a:endParaRPr lang="en-IN" dirty="0"/>
          </a:p>
        </p:txBody>
      </p:sp>
    </p:spTree>
    <p:extLst>
      <p:ext uri="{BB962C8B-B14F-4D97-AF65-F5344CB8AC3E}">
        <p14:creationId xmlns:p14="http://schemas.microsoft.com/office/powerpoint/2010/main" val="3158101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a:t>
            </a:r>
          </a:p>
        </p:txBody>
      </p:sp>
      <p:sp>
        <p:nvSpPr>
          <p:cNvPr id="3" name="Content Placeholder 2"/>
          <p:cNvSpPr>
            <a:spLocks noGrp="1"/>
          </p:cNvSpPr>
          <p:nvPr>
            <p:ph idx="1"/>
          </p:nvPr>
        </p:nvSpPr>
        <p:spPr>
          <a:xfrm>
            <a:off x="838200" y="1184367"/>
            <a:ext cx="10515600" cy="4525968"/>
          </a:xfrm>
        </p:spPr>
        <p:txBody>
          <a:bodyPr>
            <a:normAutofit/>
          </a:bodyPr>
          <a:lstStyle/>
          <a:p>
            <a:r>
              <a:rPr lang="en-US" dirty="0">
                <a:latin typeface="Times New Roman" panose="02020603050405020304" pitchFamily="18" charset="0"/>
                <a:cs typeface="Times New Roman" panose="02020603050405020304" pitchFamily="18" charset="0"/>
              </a:rPr>
              <a:t>Lowers maintenance costs by shifting from reactive to proactive scheduling.</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Reduces manual intervention.</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Supports sustainability by optimizing energy usage in automated devices. </a:t>
            </a:r>
          </a:p>
          <a:p>
            <a:pPr marL="0" indent="0">
              <a:buNone/>
            </a:pP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Extends equipment lifespan.</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16</a:t>
            </a:fld>
            <a:endParaRPr lang="en-US" altLang="en-US"/>
          </a:p>
        </p:txBody>
      </p:sp>
    </p:spTree>
    <p:extLst>
      <p:ext uri="{BB962C8B-B14F-4D97-AF65-F5344CB8AC3E}">
        <p14:creationId xmlns:p14="http://schemas.microsoft.com/office/powerpoint/2010/main" val="2246652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70899"/>
          </a:xfrm>
        </p:spPr>
        <p:txBody>
          <a:bodyPr>
            <a:normAutofit fontScale="90000"/>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Design</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17</a:t>
            </a:fld>
            <a:endParaRPr lang="en-US" altLang="en-US"/>
          </a:p>
        </p:txBody>
      </p:sp>
      <p:pic>
        <p:nvPicPr>
          <p:cNvPr id="5" name="Content Placeholder 4">
            <a:extLst>
              <a:ext uri="{FF2B5EF4-FFF2-40B4-BE49-F238E27FC236}">
                <a16:creationId xmlns:a16="http://schemas.microsoft.com/office/drawing/2014/main" id="{D8CEF05B-C494-1EE9-E563-23C90166100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33712" y="1414527"/>
            <a:ext cx="6124575" cy="3895725"/>
          </a:xfrm>
          <a:prstGeom prst="rect">
            <a:avLst/>
          </a:prstGeom>
          <a:noFill/>
          <a:ln>
            <a:noFill/>
          </a:ln>
        </p:spPr>
      </p:pic>
      <p:graphicFrame>
        <p:nvGraphicFramePr>
          <p:cNvPr id="6" name="Table 5">
            <a:extLst>
              <a:ext uri="{FF2B5EF4-FFF2-40B4-BE49-F238E27FC236}">
                <a16:creationId xmlns:a16="http://schemas.microsoft.com/office/drawing/2014/main" id="{48D2FA09-9705-08ED-B4E8-0374A4DD5D2E}"/>
              </a:ext>
            </a:extLst>
          </p:cNvPr>
          <p:cNvGraphicFramePr>
            <a:graphicFrameLocks noGrp="1"/>
          </p:cNvGraphicFramePr>
          <p:nvPr>
            <p:extLst>
              <p:ext uri="{D42A27DB-BD31-4B8C-83A1-F6EECF244321}">
                <p14:modId xmlns:p14="http://schemas.microsoft.com/office/powerpoint/2010/main" val="149202870"/>
              </p:ext>
            </p:extLst>
          </p:nvPr>
        </p:nvGraphicFramePr>
        <p:xfrm>
          <a:off x="2258010" y="836024"/>
          <a:ext cx="7903028" cy="5029200"/>
        </p:xfrm>
        <a:graphic>
          <a:graphicData uri="http://schemas.openxmlformats.org/drawingml/2006/table">
            <a:tbl>
              <a:tblPr/>
              <a:tblGrid>
                <a:gridCol w="7903028">
                  <a:extLst>
                    <a:ext uri="{9D8B030D-6E8A-4147-A177-3AD203B41FA5}">
                      <a16:colId xmlns:a16="http://schemas.microsoft.com/office/drawing/2014/main" val="168247900"/>
                    </a:ext>
                  </a:extLst>
                </a:gridCol>
              </a:tblGrid>
              <a:tr h="4734352">
                <a:tc>
                  <a: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 </a:t>
                      </a:r>
                      <a:r>
                        <a:rPr lang="en-IN" sz="1800" kern="1200" dirty="0">
                          <a:solidFill>
                            <a:schemeClr val="tx1"/>
                          </a:solidFill>
                          <a:effectLst/>
                          <a:latin typeface="Times New Roman" panose="02020603050405020304" pitchFamily="18" charset="0"/>
                          <a:ea typeface="+mn-ea"/>
                          <a:cs typeface="Times New Roman" panose="02020603050405020304" pitchFamily="18" charset="0"/>
                        </a:rPr>
                        <a:t>Figure 1.1 :  System Design Block Diagram </a:t>
                      </a:r>
                    </a:p>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24641042"/>
                  </a:ext>
                </a:extLst>
              </a:tr>
            </a:tbl>
          </a:graphicData>
        </a:graphic>
      </p:graphicFrame>
    </p:spTree>
    <p:extLst>
      <p:ext uri="{BB962C8B-B14F-4D97-AF65-F5344CB8AC3E}">
        <p14:creationId xmlns:p14="http://schemas.microsoft.com/office/powerpoint/2010/main" val="3365432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696E9-F879-61A8-8D5E-3CB4D044524D}"/>
              </a:ext>
            </a:extLst>
          </p:cNvPr>
          <p:cNvSpPr>
            <a:spLocks noGrp="1"/>
          </p:cNvSpPr>
          <p:nvPr>
            <p:ph type="title"/>
          </p:nvPr>
        </p:nvSpPr>
        <p:spPr>
          <a:xfrm>
            <a:off x="838200" y="365125"/>
            <a:ext cx="10515600" cy="586597"/>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Continue….</a:t>
            </a:r>
            <a:endParaRPr lang="en-IN" sz="3200" dirty="0">
              <a:solidFill>
                <a:schemeClr val="accent1">
                  <a:lumMod val="75000"/>
                </a:schemeClr>
              </a:solidFill>
            </a:endParaRPr>
          </a:p>
        </p:txBody>
      </p:sp>
      <p:sp>
        <p:nvSpPr>
          <p:cNvPr id="3" name="Content Placeholder 2">
            <a:extLst>
              <a:ext uri="{FF2B5EF4-FFF2-40B4-BE49-F238E27FC236}">
                <a16:creationId xmlns:a16="http://schemas.microsoft.com/office/drawing/2014/main" id="{550995D5-AE3A-9DEF-228A-B88413E19892}"/>
              </a:ext>
            </a:extLst>
          </p:cNvPr>
          <p:cNvSpPr>
            <a:spLocks noGrp="1"/>
          </p:cNvSpPr>
          <p:nvPr>
            <p:ph idx="1"/>
          </p:nvPr>
        </p:nvSpPr>
        <p:spPr>
          <a:xfrm>
            <a:off x="838200" y="1063690"/>
            <a:ext cx="10515600" cy="5113273"/>
          </a:xfrm>
        </p:spPr>
        <p:txBody>
          <a:bodyPr>
            <a:normAutofit lnSpcReduction="10000"/>
          </a:bodyPr>
          <a:lstStyle/>
          <a:p>
            <a:r>
              <a:rPr lang="en-IN" dirty="0">
                <a:latin typeface="Times New Roman" panose="02020603050405020304" pitchFamily="18" charset="0"/>
                <a:cs typeface="Times New Roman" panose="02020603050405020304" pitchFamily="18" charset="0"/>
              </a:rPr>
              <a:t>The System design specification establishes a contractual foundation defining what the system must accomplish, how it must perform, and under what constraints it must operate. Requirements are categorized into functional requirements (system capabilities and behaviours) and non-functional requirements (performance, reliability, security, usability attributes).</a:t>
            </a:r>
          </a:p>
          <a:p>
            <a:endParaRPr lang="en-IN" dirty="0">
              <a:latin typeface="Times New Roman" panose="02020603050405020304" pitchFamily="18" charset="0"/>
              <a:cs typeface="Times New Roman" panose="02020603050405020304" pitchFamily="18" charset="0"/>
            </a:endParaRPr>
          </a:p>
          <a:p>
            <a:r>
              <a:rPr lang="en-IN" sz="3000" dirty="0">
                <a:latin typeface="Times New Roman" panose="02020603050405020304" pitchFamily="18" charset="0"/>
                <a:cs typeface="Times New Roman" panose="02020603050405020304" pitchFamily="18" charset="0"/>
              </a:rPr>
              <a:t>Database schema includes timestamp, device ID, vibration, temperature, and usage.</a:t>
            </a:r>
          </a:p>
          <a:p>
            <a:pPr marL="0" indent="0">
              <a:buNone/>
            </a:pP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Modular design allows independent testing of each algorithm component.</a:t>
            </a:r>
          </a:p>
          <a:p>
            <a:pPr marL="0" indent="0">
              <a:buNone/>
            </a:pP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8C0B3172-1A02-AB48-E8E8-BA989C10C0A9}"/>
              </a:ext>
            </a:extLst>
          </p:cNvPr>
          <p:cNvSpPr>
            <a:spLocks noGrp="1"/>
          </p:cNvSpPr>
          <p:nvPr>
            <p:ph type="sldNum" sz="quarter" idx="12"/>
          </p:nvPr>
        </p:nvSpPr>
        <p:spPr/>
        <p:txBody>
          <a:bodyPr/>
          <a:lstStyle/>
          <a:p>
            <a:fld id="{F32F6845-8F47-4AB8-B9CE-96D88E741707}" type="slidenum">
              <a:rPr lang="en-IN" smtClean="0"/>
              <a:pPr/>
              <a:t>18</a:t>
            </a:fld>
            <a:endParaRPr lang="en-IN" dirty="0"/>
          </a:p>
        </p:txBody>
      </p:sp>
    </p:spTree>
    <p:extLst>
      <p:ext uri="{BB962C8B-B14F-4D97-AF65-F5344CB8AC3E}">
        <p14:creationId xmlns:p14="http://schemas.microsoft.com/office/powerpoint/2010/main" val="3190102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66827"/>
          </a:xfrm>
        </p:spPr>
        <p:txBody>
          <a:bodyPr>
            <a:normAutofit fontScale="90000"/>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Implementation</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19</a:t>
            </a:fld>
            <a:endParaRPr lang="en-US" altLang="en-US"/>
          </a:p>
        </p:txBody>
      </p:sp>
      <p:pic>
        <p:nvPicPr>
          <p:cNvPr id="5" name="Content Placeholder 4">
            <a:extLst>
              <a:ext uri="{FF2B5EF4-FFF2-40B4-BE49-F238E27FC236}">
                <a16:creationId xmlns:a16="http://schemas.microsoft.com/office/drawing/2014/main" id="{0776F203-A99B-4F96-EFF0-52A5C5CF899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09311" y="1258920"/>
            <a:ext cx="2693458" cy="4040188"/>
          </a:xfrm>
          <a:prstGeom prst="rect">
            <a:avLst/>
          </a:prstGeom>
          <a:noFill/>
          <a:ln>
            <a:noFill/>
          </a:ln>
        </p:spPr>
      </p:pic>
      <p:graphicFrame>
        <p:nvGraphicFramePr>
          <p:cNvPr id="6" name="Table 5">
            <a:extLst>
              <a:ext uri="{FF2B5EF4-FFF2-40B4-BE49-F238E27FC236}">
                <a16:creationId xmlns:a16="http://schemas.microsoft.com/office/drawing/2014/main" id="{CC1C999B-2B60-3607-A674-1906F2183941}"/>
              </a:ext>
            </a:extLst>
          </p:cNvPr>
          <p:cNvGraphicFramePr>
            <a:graphicFrameLocks noGrp="1"/>
          </p:cNvGraphicFramePr>
          <p:nvPr>
            <p:extLst>
              <p:ext uri="{D42A27DB-BD31-4B8C-83A1-F6EECF244321}">
                <p14:modId xmlns:p14="http://schemas.microsoft.com/office/powerpoint/2010/main" val="3107840555"/>
              </p:ext>
            </p:extLst>
          </p:nvPr>
        </p:nvGraphicFramePr>
        <p:xfrm>
          <a:off x="1828800" y="831952"/>
          <a:ext cx="8574833" cy="5577840"/>
        </p:xfrm>
        <a:graphic>
          <a:graphicData uri="http://schemas.openxmlformats.org/drawingml/2006/table">
            <a:tbl>
              <a:tblPr/>
              <a:tblGrid>
                <a:gridCol w="8574833">
                  <a:extLst>
                    <a:ext uri="{9D8B030D-6E8A-4147-A177-3AD203B41FA5}">
                      <a16:colId xmlns:a16="http://schemas.microsoft.com/office/drawing/2014/main" val="1212171525"/>
                    </a:ext>
                  </a:extLst>
                </a:gridCol>
              </a:tblGrid>
              <a:tr h="5413959">
                <a:tc>
                  <a: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algn="ct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                                            </a:t>
                      </a:r>
                      <a:r>
                        <a:rPr lang="en-IN" sz="1800" kern="1200" dirty="0">
                          <a:solidFill>
                            <a:schemeClr val="tx1"/>
                          </a:solidFill>
                          <a:effectLst/>
                          <a:latin typeface="Times New Roman" panose="02020603050405020304" pitchFamily="18" charset="0"/>
                          <a:ea typeface="+mn-ea"/>
                          <a:cs typeface="Times New Roman" panose="02020603050405020304" pitchFamily="18" charset="0"/>
                        </a:rPr>
                        <a:t>Figure 1.2 :  System Implementation</a:t>
                      </a:r>
                    </a:p>
                    <a:p>
                      <a:pPr algn="ctr"/>
                      <a:endParaRPr lang="en-IN" dirty="0"/>
                    </a:p>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91448430"/>
                  </a:ext>
                </a:extLst>
              </a:tr>
            </a:tbl>
          </a:graphicData>
        </a:graphic>
      </p:graphicFrame>
    </p:spTree>
    <p:extLst>
      <p:ext uri="{BB962C8B-B14F-4D97-AF65-F5344CB8AC3E}">
        <p14:creationId xmlns:p14="http://schemas.microsoft.com/office/powerpoint/2010/main" val="22026174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0C756-06FE-17D2-421C-03D79585FCCA}"/>
              </a:ext>
            </a:extLst>
          </p:cNvPr>
          <p:cNvSpPr>
            <a:spLocks noGrp="1"/>
          </p:cNvSpPr>
          <p:nvPr>
            <p:ph type="title"/>
          </p:nvPr>
        </p:nvSpPr>
        <p:spPr>
          <a:xfrm>
            <a:off x="838200" y="365126"/>
            <a:ext cx="10515600" cy="717226"/>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Continue….</a:t>
            </a:r>
            <a:endParaRPr lang="en-IN" sz="3200" dirty="0">
              <a:solidFill>
                <a:schemeClr val="accent1">
                  <a:lumMod val="75000"/>
                </a:schemeClr>
              </a:solidFill>
            </a:endParaRPr>
          </a:p>
        </p:txBody>
      </p:sp>
      <p:sp>
        <p:nvSpPr>
          <p:cNvPr id="3" name="Content Placeholder 2">
            <a:extLst>
              <a:ext uri="{FF2B5EF4-FFF2-40B4-BE49-F238E27FC236}">
                <a16:creationId xmlns:a16="http://schemas.microsoft.com/office/drawing/2014/main" id="{7467E975-721D-BFBB-B6EF-0748ABE015F3}"/>
              </a:ext>
            </a:extLst>
          </p:cNvPr>
          <p:cNvSpPr>
            <a:spLocks noGrp="1"/>
          </p:cNvSpPr>
          <p:nvPr>
            <p:ph idx="1"/>
          </p:nvPr>
        </p:nvSpPr>
        <p:spPr>
          <a:xfrm>
            <a:off x="838200" y="989045"/>
            <a:ext cx="10515600" cy="5187918"/>
          </a:xfrm>
        </p:spPr>
        <p:txBody>
          <a:bodyPr/>
          <a:lstStyle/>
          <a:p>
            <a:pPr lvl="0"/>
            <a:r>
              <a:rPr lang="en-IN" dirty="0">
                <a:latin typeface="Times New Roman" panose="02020603050405020304" pitchFamily="18" charset="0"/>
                <a:cs typeface="Times New Roman" panose="02020603050405020304" pitchFamily="18" charset="0"/>
              </a:rPr>
              <a:t>Prioritized maintenance work orders with resource assignments and scheduling recommendations.</a:t>
            </a:r>
          </a:p>
          <a:p>
            <a:pPr marL="0" lvl="0" indent="0">
              <a:buNone/>
            </a:pP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Historical analytics enabling trend analysis and strategic planning.</a:t>
            </a:r>
          </a:p>
          <a:p>
            <a:pPr marL="0" lvl="0" indent="0">
              <a:buNone/>
            </a:pP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Configuration parameters defining device types, criticality classifications, alert thresholds, maintenance rules, and user preferences.</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p>
        </p:txBody>
      </p:sp>
      <p:sp>
        <p:nvSpPr>
          <p:cNvPr id="5" name="Slide Number Placeholder 4">
            <a:extLst>
              <a:ext uri="{FF2B5EF4-FFF2-40B4-BE49-F238E27FC236}">
                <a16:creationId xmlns:a16="http://schemas.microsoft.com/office/drawing/2014/main" id="{18900478-2916-23E3-FFE9-33D65CCBF1A8}"/>
              </a:ext>
            </a:extLst>
          </p:cNvPr>
          <p:cNvSpPr>
            <a:spLocks noGrp="1"/>
          </p:cNvSpPr>
          <p:nvPr>
            <p:ph type="sldNum" sz="quarter" idx="12"/>
          </p:nvPr>
        </p:nvSpPr>
        <p:spPr/>
        <p:txBody>
          <a:bodyPr/>
          <a:lstStyle/>
          <a:p>
            <a:fld id="{F32F6845-8F47-4AB8-B9CE-96D88E741707}" type="slidenum">
              <a:rPr lang="en-IN" smtClean="0"/>
              <a:pPr/>
              <a:t>20</a:t>
            </a:fld>
            <a:endParaRPr lang="en-IN" dirty="0"/>
          </a:p>
        </p:txBody>
      </p:sp>
    </p:spTree>
    <p:extLst>
      <p:ext uri="{BB962C8B-B14F-4D97-AF65-F5344CB8AC3E}">
        <p14:creationId xmlns:p14="http://schemas.microsoft.com/office/powerpoint/2010/main" val="1305024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Testing</a:t>
            </a:r>
          </a:p>
        </p:txBody>
      </p:sp>
      <p:sp>
        <p:nvSpPr>
          <p:cNvPr id="3" name="Content Placeholder 2"/>
          <p:cNvSpPr>
            <a:spLocks noGrp="1"/>
          </p:cNvSpPr>
          <p:nvPr>
            <p:ph idx="1"/>
          </p:nvPr>
        </p:nvSpPr>
        <p:spPr>
          <a:xfrm>
            <a:off x="838200" y="1184367"/>
            <a:ext cx="10515600" cy="4553960"/>
          </a:xfrm>
        </p:spPr>
        <p:txBody>
          <a:bodyPr/>
          <a:lstStyle/>
          <a:p>
            <a:r>
              <a:rPr lang="en-US" dirty="0">
                <a:latin typeface="Times New Roman" panose="02020603050405020304" pitchFamily="18" charset="0"/>
                <a:cs typeface="Times New Roman" panose="02020603050405020304" pitchFamily="18" charset="0"/>
              </a:rPr>
              <a:t>Bias and overfitting checks performed on residential vs industrial data.</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Error handling testing confirms graceful recovery from missing values.</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Security testing ensures anonymized data handling compliance.</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Real-time simulation using synthetic IoT logs for alert validation.</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21</a:t>
            </a:fld>
            <a:endParaRPr lang="en-US" altLang="en-US"/>
          </a:p>
        </p:txBody>
      </p:sp>
    </p:spTree>
    <p:extLst>
      <p:ext uri="{BB962C8B-B14F-4D97-AF65-F5344CB8AC3E}">
        <p14:creationId xmlns:p14="http://schemas.microsoft.com/office/powerpoint/2010/main" val="25080511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838200" y="1184367"/>
            <a:ext cx="10515600" cy="4656596"/>
          </a:xfrm>
        </p:spPr>
        <p:txBody>
          <a:bodyPr>
            <a:noAutofit/>
          </a:bodyPr>
          <a:lstStyle/>
          <a:p>
            <a:r>
              <a:rPr lang="en-US" dirty="0">
                <a:latin typeface="Times New Roman" panose="02020603050405020304" pitchFamily="18" charset="0"/>
                <a:cs typeface="Times New Roman" panose="02020603050405020304" pitchFamily="18" charset="0"/>
              </a:rPr>
              <a:t>Gained valuable real-world experience in IoT security analytics domain.</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Demonstrated end-to-end algorithm implementation from data to dashboard.</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Achieved key objectives of reducing downtime and enhancing client safety.</a:t>
            </a:r>
          </a:p>
          <a:p>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Implemented hybrid predictive maintenance system.</a:t>
            </a:r>
          </a:p>
          <a:p>
            <a:endParaRPr lang="en-US" dirty="0"/>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22</a:t>
            </a:fld>
            <a:endParaRPr lang="en-US" altLang="en-US"/>
          </a:p>
        </p:txBody>
      </p:sp>
    </p:spTree>
    <p:extLst>
      <p:ext uri="{BB962C8B-B14F-4D97-AF65-F5344CB8AC3E}">
        <p14:creationId xmlns:p14="http://schemas.microsoft.com/office/powerpoint/2010/main" val="10723990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800876" y="1184367"/>
            <a:ext cx="10515600" cy="4525968"/>
          </a:xfrm>
        </p:spPr>
        <p:txBody>
          <a:bodyPr>
            <a:noAutofit/>
          </a:bodyPr>
          <a:lstStyle/>
          <a:p>
            <a:pPr lvl="0"/>
            <a:r>
              <a:rPr lang="en-IN" dirty="0">
                <a:latin typeface="Times New Roman" panose="02020603050405020304" pitchFamily="18" charset="0"/>
                <a:cs typeface="Times New Roman" panose="02020603050405020304" pitchFamily="18" charset="0"/>
              </a:rPr>
              <a:t>United Nations. (2015). </a:t>
            </a:r>
            <a:r>
              <a:rPr lang="en-IN" i="1" dirty="0">
                <a:latin typeface="Times New Roman" panose="02020603050405020304" pitchFamily="18" charset="0"/>
                <a:cs typeface="Times New Roman" panose="02020603050405020304" pitchFamily="18" charset="0"/>
              </a:rPr>
              <a:t>Sustainable Development Goals</a:t>
            </a:r>
            <a:r>
              <a:rPr lang="en-IN" dirty="0">
                <a:latin typeface="Times New Roman" panose="02020603050405020304" pitchFamily="18" charset="0"/>
                <a:cs typeface="Times New Roman" panose="02020603050405020304" pitchFamily="18" charset="0"/>
              </a:rPr>
              <a:t>. Available at: </a:t>
            </a:r>
            <a:r>
              <a:rPr lang="en-IN" u="sng" dirty="0">
                <a:latin typeface="Times New Roman" panose="02020603050405020304" pitchFamily="18" charset="0"/>
                <a:cs typeface="Times New Roman" panose="02020603050405020304" pitchFamily="18" charset="0"/>
                <a:hlinkClick r:id="rId2"/>
              </a:rPr>
              <a:t>https://sdgs.un.org/goals</a:t>
            </a:r>
            <a:r>
              <a:rPr lang="en-IN" dirty="0">
                <a:latin typeface="Times New Roman" panose="02020603050405020304" pitchFamily="18" charset="0"/>
                <a:cs typeface="Times New Roman" panose="02020603050405020304" pitchFamily="18" charset="0"/>
              </a:rPr>
              <a:t> [Accessed 17 January 2025].</a:t>
            </a:r>
          </a:p>
          <a:p>
            <a:pPr marL="0" lvl="0" indent="0">
              <a:buNone/>
            </a:pP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National Health Profile. (2023). </a:t>
            </a:r>
            <a:r>
              <a:rPr lang="en-IN" i="1" dirty="0">
                <a:latin typeface="Times New Roman" panose="02020603050405020304" pitchFamily="18" charset="0"/>
                <a:cs typeface="Times New Roman" panose="02020603050405020304" pitchFamily="18" charset="0"/>
              </a:rPr>
              <a:t>Emergency Medical Services Response Times in Urban India</a:t>
            </a:r>
            <a:r>
              <a:rPr lang="en-IN" dirty="0">
                <a:latin typeface="Times New Roman" panose="02020603050405020304" pitchFamily="18" charset="0"/>
                <a:cs typeface="Times New Roman" panose="02020603050405020304" pitchFamily="18" charset="0"/>
              </a:rPr>
              <a:t>. Ministry of Health and Family Welfare, Government of India.</a:t>
            </a:r>
          </a:p>
          <a:p>
            <a:pPr marL="0" lvl="0" indent="0">
              <a:buNone/>
            </a:pP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Smith, J.A. and Johnson, R.K. (2022). 'Accuracy of Manual Triage in High-Stress Emergency Situations', </a:t>
            </a:r>
            <a:r>
              <a:rPr lang="en-IN" i="1" dirty="0">
                <a:latin typeface="Times New Roman" panose="02020603050405020304" pitchFamily="18" charset="0"/>
                <a:cs typeface="Times New Roman" panose="02020603050405020304" pitchFamily="18" charset="0"/>
              </a:rPr>
              <a:t>Journal of Emergency Medicine</a:t>
            </a:r>
            <a:r>
              <a:rPr lang="en-IN" dirty="0">
                <a:latin typeface="Times New Roman" panose="02020603050405020304" pitchFamily="18" charset="0"/>
                <a:cs typeface="Times New Roman" panose="02020603050405020304" pitchFamily="18" charset="0"/>
              </a:rPr>
              <a:t>, 45(3), pp. 234-248.</a:t>
            </a:r>
          </a:p>
          <a:p>
            <a:pPr marL="0" lvl="0" indent="0">
              <a:buNone/>
            </a:pP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23</a:t>
            </a:fld>
            <a:endParaRPr lang="en-US" altLang="en-US"/>
          </a:p>
        </p:txBody>
      </p:sp>
    </p:spTree>
    <p:extLst>
      <p:ext uri="{BB962C8B-B14F-4D97-AF65-F5344CB8AC3E}">
        <p14:creationId xmlns:p14="http://schemas.microsoft.com/office/powerpoint/2010/main" val="23493986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5A392-D106-C3D0-D71E-EEA57B5F5393}"/>
              </a:ext>
            </a:extLst>
          </p:cNvPr>
          <p:cNvSpPr>
            <a:spLocks noGrp="1"/>
          </p:cNvSpPr>
          <p:nvPr>
            <p:ph type="title"/>
          </p:nvPr>
        </p:nvSpPr>
        <p:spPr>
          <a:xfrm>
            <a:off x="838200" y="365125"/>
            <a:ext cx="10515600" cy="735887"/>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Continue….</a:t>
            </a:r>
            <a:endParaRPr lang="en-IN" sz="3200" dirty="0">
              <a:solidFill>
                <a:schemeClr val="accent1">
                  <a:lumMod val="75000"/>
                </a:schemeClr>
              </a:solidFill>
            </a:endParaRPr>
          </a:p>
        </p:txBody>
      </p:sp>
      <p:sp>
        <p:nvSpPr>
          <p:cNvPr id="3" name="Content Placeholder 2">
            <a:extLst>
              <a:ext uri="{FF2B5EF4-FFF2-40B4-BE49-F238E27FC236}">
                <a16:creationId xmlns:a16="http://schemas.microsoft.com/office/drawing/2014/main" id="{3A751C4C-1BE7-042B-49FE-AFD1427E0159}"/>
              </a:ext>
            </a:extLst>
          </p:cNvPr>
          <p:cNvSpPr>
            <a:spLocks noGrp="1"/>
          </p:cNvSpPr>
          <p:nvPr>
            <p:ph idx="1"/>
          </p:nvPr>
        </p:nvSpPr>
        <p:spPr>
          <a:xfrm>
            <a:off x="838200" y="1194318"/>
            <a:ext cx="10515600" cy="4982645"/>
          </a:xfrm>
        </p:spPr>
        <p:txBody>
          <a:bodyPr/>
          <a:lstStyle/>
          <a:p>
            <a:pPr lvl="0"/>
            <a:r>
              <a:rPr lang="en-IN" dirty="0">
                <a:latin typeface="Times New Roman" panose="02020603050405020304" pitchFamily="18" charset="0"/>
                <a:cs typeface="Times New Roman" panose="02020603050405020304" pitchFamily="18" charset="0"/>
              </a:rPr>
              <a:t>Brown, M.L. et al. (2023). 'Traditional Emergency Dispatch Systems: Challenges and Limitations', </a:t>
            </a:r>
            <a:r>
              <a:rPr lang="en-IN" i="1" dirty="0">
                <a:latin typeface="Times New Roman" panose="02020603050405020304" pitchFamily="18" charset="0"/>
                <a:cs typeface="Times New Roman" panose="02020603050405020304" pitchFamily="18" charset="0"/>
              </a:rPr>
              <a:t>International Journal of Emergency Services</a:t>
            </a:r>
            <a:r>
              <a:rPr lang="en-IN" dirty="0">
                <a:latin typeface="Times New Roman" panose="02020603050405020304" pitchFamily="18" charset="0"/>
                <a:cs typeface="Times New Roman" panose="02020603050405020304" pitchFamily="18" charset="0"/>
              </a:rPr>
              <a:t>, 12(2), pp. 89-103.</a:t>
            </a:r>
          </a:p>
          <a:p>
            <a:pPr marL="0" lvl="0" indent="0">
              <a:buNone/>
            </a:pPr>
            <a:endParaRPr lang="en-IN" dirty="0">
              <a:latin typeface="Times New Roman" panose="02020603050405020304" pitchFamily="18" charset="0"/>
              <a:cs typeface="Times New Roman" panose="02020603050405020304" pitchFamily="18" charset="0"/>
            </a:endParaRPr>
          </a:p>
          <a:p>
            <a:pPr lvl="0"/>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Chen, X. and Wang, Y. (2022). 'Heuristic Algorithms for Ambulance Routing: A Comparative Study', </a:t>
            </a:r>
            <a:r>
              <a:rPr lang="en-IN" i="1" dirty="0">
                <a:latin typeface="Times New Roman" panose="02020603050405020304" pitchFamily="18" charset="0"/>
                <a:cs typeface="Times New Roman" panose="02020603050405020304" pitchFamily="18" charset="0"/>
              </a:rPr>
              <a:t>Transportation Research Part C</a:t>
            </a:r>
            <a:r>
              <a:rPr lang="en-IN" dirty="0">
                <a:latin typeface="Times New Roman" panose="02020603050405020304" pitchFamily="18" charset="0"/>
                <a:cs typeface="Times New Roman" panose="02020603050405020304" pitchFamily="18" charset="0"/>
              </a:rPr>
              <a:t>, 134, pp. 102-118.</a:t>
            </a:r>
          </a:p>
          <a:p>
            <a:endParaRPr lang="en-IN" dirty="0"/>
          </a:p>
        </p:txBody>
      </p:sp>
      <p:sp>
        <p:nvSpPr>
          <p:cNvPr id="5" name="Slide Number Placeholder 4">
            <a:extLst>
              <a:ext uri="{FF2B5EF4-FFF2-40B4-BE49-F238E27FC236}">
                <a16:creationId xmlns:a16="http://schemas.microsoft.com/office/drawing/2014/main" id="{C5CC99E1-F38B-11FB-F73F-F885CE02CB1E}"/>
              </a:ext>
            </a:extLst>
          </p:cNvPr>
          <p:cNvSpPr>
            <a:spLocks noGrp="1"/>
          </p:cNvSpPr>
          <p:nvPr>
            <p:ph type="sldNum" sz="quarter" idx="12"/>
          </p:nvPr>
        </p:nvSpPr>
        <p:spPr/>
        <p:txBody>
          <a:bodyPr/>
          <a:lstStyle/>
          <a:p>
            <a:fld id="{F32F6845-8F47-4AB8-B9CE-96D88E741707}" type="slidenum">
              <a:rPr lang="en-IN" smtClean="0"/>
              <a:pPr/>
              <a:t>24</a:t>
            </a:fld>
            <a:endParaRPr lang="en-IN" dirty="0"/>
          </a:p>
        </p:txBody>
      </p:sp>
    </p:spTree>
    <p:extLst>
      <p:ext uri="{BB962C8B-B14F-4D97-AF65-F5344CB8AC3E}">
        <p14:creationId xmlns:p14="http://schemas.microsoft.com/office/powerpoint/2010/main" val="34838010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25</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US" b="1" dirty="0">
                <a:latin typeface="Times New Roman" panose="02020603050405020304" pitchFamily="18" charset="0"/>
                <a:cs typeface="Times New Roman" panose="02020603050405020304" pitchFamily="18" charset="0"/>
                <a:hlinkClick r:id="rId2"/>
              </a:rPr>
              <a:t>https://github.com/bhagyavardhanIntern08</a:t>
            </a:r>
            <a:endParaRPr lang="en-US" b="1"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56213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26</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27</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7153</TotalTime>
  <Words>1301</Words>
  <Application>Microsoft Office PowerPoint</Application>
  <PresentationFormat>Widescreen</PresentationFormat>
  <Paragraphs>264</Paragraphs>
  <Slides>27</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 Product Offerings </vt:lpstr>
      <vt:lpstr>Working domain or the technology</vt:lpstr>
      <vt:lpstr>Continue…</vt:lpstr>
      <vt:lpstr>About your team and reporting Manager</vt:lpstr>
      <vt:lpstr>Continue…</vt:lpstr>
      <vt:lpstr>Challenges Faced in Internship</vt:lpstr>
      <vt:lpstr>Objectives of the work</vt:lpstr>
      <vt:lpstr>Literature Review</vt:lpstr>
      <vt:lpstr>Proposed System </vt:lpstr>
      <vt:lpstr>Problem Statement</vt:lpstr>
      <vt:lpstr>System Requirements</vt:lpstr>
      <vt:lpstr>Continue….</vt:lpstr>
      <vt:lpstr>Advantages of Proposed System</vt:lpstr>
      <vt:lpstr>System Design</vt:lpstr>
      <vt:lpstr>Continue….</vt:lpstr>
      <vt:lpstr>System Implementation</vt:lpstr>
      <vt:lpstr>Continue….</vt:lpstr>
      <vt:lpstr>System Testing</vt:lpstr>
      <vt:lpstr>Conclusion</vt:lpstr>
      <vt:lpstr>References</vt:lpstr>
      <vt:lpstr>Continue….</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Bhagyavardhan SB</cp:lastModifiedBy>
  <cp:revision>801</cp:revision>
  <dcterms:created xsi:type="dcterms:W3CDTF">2022-10-14T07:18:17Z</dcterms:created>
  <dcterms:modified xsi:type="dcterms:W3CDTF">2026-03-31T15:36:36Z</dcterms:modified>
</cp:coreProperties>
</file>